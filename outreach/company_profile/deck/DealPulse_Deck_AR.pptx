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افتح بسؤال لا بتعريف: «كم طلب يخرج من صفحة الدفع عندكم يدوّر كود ولا يرجع؟» — ثم انتقل للشريحة الثانية.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تشرح المنصّة بعد. ثبّت هذه الجملة أولاً — كل ما بعدها خدمة لها.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النقطة: السلّة المعلّقة أثمن من المتروكة — صاحبها قرّر الشراء وينتظر سبباً واحداً. نحن نوفّر السبب.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الرسم من سبورة المالك. لا تشرحه سطراً سطراً — أشر إلى الخطوة 2 وقل: هنا نقف، وهنا يُحسم الطلب.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 لا ثلاث — حسابات التواصل قناة قائمة بذاتها، لا امتداد للموقع.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تقرأها كلّها. اذكر ثلاثاً تناسبهم واترك الباقي للملف التعريفي.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هذي الشريحة تفصلنا عن مواقع الكوبونات: هم يضيفون سطراً في قائمة، ونحن نبني شبكة تعمل بعد الحملة.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ورقتنا الأقوى مع علامة كبيرة: ميزانيتهم تشتري إعلاناً، ولا تشتري ذكراً داخل إجابة مساعد ذكي.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قف هنا. مدير التسويق يخاف من طرف ثالث أكثر مما يطمع في طلبات — نزع الخوف يفتح الباب.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تدخل في التسعير هنا. قل: أرجع لكم بمقترح مكتوب بعد ما أفهم الهدف والموسم.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الشريحة بطلب واحد: تجربة محدودة المدّة بكود حصري. لا تطلب أكثر في الاجتماع الأول.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شيئاً واحداً: موافقة مبدئية على تجربة محدودة بكود حصري. ثم أرسل الملف التعريفي بعد الاجتماع.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ealPulseKSA/outreach/company_profile/logo_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728" y="960120"/>
            <a:ext cx="4206240" cy="27119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794760"/>
            <a:ext cx="9631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نضع علامتك أمام المشتري السعودي في لحظة القرار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1280160" y="4498848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سعودية للعروض والمحتوى الشرائي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6144768"/>
            <a:ext cx="3332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6373368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dealpulseksa.com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292498" y="6144768"/>
            <a:ext cx="3332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92498" y="6373368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dealpulseksa@gmail.com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99197" y="6144768"/>
            <a:ext cx="33323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واتساب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99197" y="6373368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0534448900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269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310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نبيعه شيء واحد: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نيّة شراء جاهزة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011680" y="3703320"/>
            <a:ext cx="8168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E3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يبحث عن كود خصم يكون قد اختار منتجه فعلاً — ولم يبقَ إلا أن يُتمّ طلبه.</a:t>
            </a:r>
            <a:endParaRPr lang="en-US" sz="1600" dirty="0"/>
          </a:p>
          <a:p>
            <a:pPr rtl="1" algn="ctr"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E3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وهذا أقصر طريق بين المحتوى والمبيعة، وأقلّه هدراً في الإنفاق.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269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310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تُفقد الطلبات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خانة «كود الخصم» تُخرج مشتريك من متجرك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60934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المشتري يصل إلى الدفع — ومعه مدى أو محفظة أو تقسيط — فيرى الخانة فارغة أمامه، فيخرج يبحث عمّا يملأها به.</a:t>
            </a:r>
            <a:endParaRPr lang="en-US" sz="1450" dirty="0"/>
          </a:p>
          <a:p>
            <a:pPr rtl="1" algn="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وهذا يحدث اليوم بلا علاقة بنا. السؤال الوحيد: ماذا يجد في تلك الدقيقة؟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61208" y="2788920"/>
            <a:ext cx="5669280" cy="658368"/>
          </a:xfrm>
          <a:prstGeom prst="roundRect">
            <a:avLst>
              <a:gd name="adj" fmla="val 11111"/>
            </a:avLst>
          </a:prstGeom>
          <a:solidFill>
            <a:srgbClr val="1B2440"/>
          </a:solidFill>
          <a:ln w="15875">
            <a:solidFill>
              <a:srgbClr val="FDA29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489808" y="27889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كود الخصم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D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خانة فارغة  =  احتمالية عدم الشراء عالية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3332378" cy="1371600"/>
          </a:xfrm>
          <a:prstGeom prst="roundRect">
            <a:avLst>
              <a:gd name="adj" fmla="val 7333"/>
            </a:avLst>
          </a:prstGeom>
          <a:solidFill>
            <a:srgbClr val="1B24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4074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يجد كودكم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791456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يعود ويُتمّ الطلب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29658" y="4206240"/>
            <a:ext cx="3332378" cy="1371600"/>
          </a:xfrm>
          <a:prstGeom prst="roundRect">
            <a:avLst>
              <a:gd name="adj" fmla="val 7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3978" y="44074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DA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يجد كود منافس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3978" y="4791456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يشتري من غيركم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73517" y="4206240"/>
            <a:ext cx="3332378" cy="1371600"/>
          </a:xfrm>
          <a:prstGeom prst="roundRect">
            <a:avLst>
              <a:gd name="adj" fmla="val 7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7837" y="4407408"/>
            <a:ext cx="2783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يجد شيئاً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47837" y="4791456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تبقى السلة معلّقة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269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310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موقعنا في رحلة المشتري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نقف بالضبط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892040" y="1600200"/>
            <a:ext cx="2423160" cy="8686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892040" y="16002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32520" y="3977640"/>
            <a:ext cx="2514600" cy="868680"/>
          </a:xfrm>
          <a:prstGeom prst="ellipse">
            <a:avLst/>
          </a:prstGeom>
          <a:solidFill>
            <a:srgbClr val="1B2440"/>
          </a:solidFill>
          <a:ln w="15875">
            <a:solidFill>
              <a:srgbClr val="2C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E3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المشتري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977640"/>
            <a:ext cx="2514600" cy="868680"/>
          </a:xfrm>
          <a:prstGeom prst="ellipse">
            <a:avLst/>
          </a:prstGeom>
          <a:solidFill>
            <a:srgbClr val="0B112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متجرك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flipH="1">
            <a:off x="3566160" y="4416552"/>
            <a:ext cx="5074920" cy="0"/>
          </a:xfrm>
          <a:prstGeom prst="line">
            <a:avLst/>
          </a:prstGeom>
          <a:noFill/>
          <a:ln w="22225">
            <a:solidFill>
              <a:srgbClr val="9AA6B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 flipV="1">
            <a:off x="7452360" y="2514600"/>
            <a:ext cx="1691640" cy="1417320"/>
          </a:xfrm>
          <a:prstGeom prst="line">
            <a:avLst/>
          </a:prstGeom>
          <a:noFill/>
          <a:ln w="22225">
            <a:solidFill>
              <a:srgbClr val="9AA6B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3200400" y="2514600"/>
            <a:ext cx="1645920" cy="1417320"/>
          </a:xfrm>
          <a:prstGeom prst="line">
            <a:avLst/>
          </a:prstGeom>
          <a:noFill/>
          <a:ln w="22225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459028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5074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يدخل ويعبّئ السلة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75320" y="3063240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يخرج يبحث عن كود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10128" y="3017520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310128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يأخذ كودك عندنا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300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نيّة شراء مؤكّدة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74520" y="5029200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87452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77440" y="5056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يعود ويُتمّ الطلب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5806440"/>
            <a:ext cx="10820095" cy="566928"/>
          </a:xfrm>
          <a:prstGeom prst="roundRect">
            <a:avLst>
              <a:gd name="adj" fmla="val 14516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80644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وبدوننا تنكسر الدورة عند الخطوة 2: يخرج يبحث فلا يجد كودك — فإمّا يجد كود منافسك، أو لا يجد شيئاً فتبقى السلة معلّقة.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269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310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نصل إليه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 قنوات على جمهور واحد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609344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لسنا موقعاً واحداً. العرض يصل إلى المتسوّق من حيث هو، ويعود به إلى صفحة علامتك.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5181448" cy="1371600"/>
          </a:xfrm>
          <a:prstGeom prst="roundRect">
            <a:avLst>
              <a:gd name="adj" fmla="val 7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81448" y="2862072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181448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862072"/>
            <a:ext cx="399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 والمحتوى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191256"/>
            <a:ext cx="3992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دائمة لكل علامة، ومكتبة أدلّة شرائية عربية، وصفحات مواسم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4448" y="2606040"/>
            <a:ext cx="5181448" cy="1371600"/>
          </a:xfrm>
          <a:prstGeom prst="roundRect">
            <a:avLst>
              <a:gd name="adj" fmla="val 7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20095" y="2862072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820095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44488" y="2862072"/>
            <a:ext cx="399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بوت تيليجرام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4488" y="3191256"/>
            <a:ext cx="3992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مباشر: بحث وعرض فوري وتنبيهات — بلا تحميل تطبيق ولا تسجيل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361688"/>
            <a:ext cx="5181448" cy="1371600"/>
          </a:xfrm>
          <a:prstGeom prst="roundRect">
            <a:avLst>
              <a:gd name="adj" fmla="val 7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81448" y="461772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181448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617720"/>
            <a:ext cx="399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 المصغّر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4946904"/>
            <a:ext cx="3992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تصفّح كاملة داخل تيليجرام، بنفس المصدر وبنفس لحظة التحديث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24448" y="4361688"/>
            <a:ext cx="5181448" cy="1371600"/>
          </a:xfrm>
          <a:prstGeom prst="roundRect">
            <a:avLst>
              <a:gd name="adj" fmla="val 7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20095" y="461772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0820095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44488" y="4617720"/>
            <a:ext cx="399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التواصل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44488" y="4946904"/>
            <a:ext cx="3992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بصري يحمل العرض إلى جمهور لا يصل عبر البحث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269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310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نصنع لعلامتك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سبع خدمات، مخرَج ملموس لكلٍّ منها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62858" cy="1207008"/>
          </a:xfrm>
          <a:prstGeom prst="roundRect">
            <a:avLst>
              <a:gd name="adj" fmla="val 8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75688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علامة دائمة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2386584"/>
            <a:ext cx="28142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من عرض وأكثر من كود في وقت واحد — أصل يعمل بعد انتهاء الحملة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4418" y="1874520"/>
            <a:ext cx="3362858" cy="1207008"/>
          </a:xfrm>
          <a:prstGeom prst="roundRect">
            <a:avLst>
              <a:gd name="adj" fmla="val 8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8738" y="2075688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مقارنات وأدلّة شرائية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88738" y="2386584"/>
            <a:ext cx="28142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الصيغ التي يقرأها المشتري في الخطوة الأخيرة، ويقتبسها المساعد الذكي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43037" y="1874520"/>
            <a:ext cx="3362858" cy="1207008"/>
          </a:xfrm>
          <a:prstGeom prst="roundRect">
            <a:avLst>
              <a:gd name="adj" fmla="val 8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7357" y="2075688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تهيئة الظهور في البحث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7357" y="2386584"/>
            <a:ext cx="28142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بمفردات السوق لا بالفصحى، مع بيانات منظّمة وربط داخلي ومتابعة فهرسة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410712"/>
            <a:ext cx="3362858" cy="1207008"/>
          </a:xfrm>
          <a:prstGeom prst="roundRect">
            <a:avLst>
              <a:gd name="adj" fmla="val 8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611880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صفحات المواسم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0120" y="3922776"/>
            <a:ext cx="28142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رمضان والعيدان ويوم التأسيس والوطني والجمعة البيضاء — بتقويم يتتبّع الهجري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14418" y="3410712"/>
            <a:ext cx="3362858" cy="1207008"/>
          </a:xfrm>
          <a:prstGeom prst="roundRect">
            <a:avLst>
              <a:gd name="adj" fmla="val 8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8738" y="3611880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التوزيع على قنواتنا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88738" y="3922776"/>
            <a:ext cx="28142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 والبوت والتطبيق المصغّر والتواصل، مع إبراز في الواجهة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3037" y="3410712"/>
            <a:ext cx="3362858" cy="1207008"/>
          </a:xfrm>
          <a:prstGeom prst="roundRect">
            <a:avLst>
              <a:gd name="adj" fmla="val 8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7357" y="3611880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ستوري العلامة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7357" y="3922776"/>
            <a:ext cx="28142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بصرية أعلى الواجهة — حضور متجدّد لا مرّة واحدة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946904"/>
            <a:ext cx="3362858" cy="1207008"/>
          </a:xfrm>
          <a:prstGeom prst="roundRect">
            <a:avLst>
              <a:gd name="adj" fmla="val 8333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148072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الترند اليومي والأسبوعي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60120" y="5458968"/>
            <a:ext cx="28142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مكانه محدود، فيصير بين العلامات سباق عليه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14418" y="4946904"/>
            <a:ext cx="3362858" cy="1207008"/>
          </a:xfrm>
          <a:prstGeom prst="roundRect">
            <a:avLst>
              <a:gd name="adj" fmla="val 8333"/>
            </a:avLst>
          </a:prstGeom>
          <a:solidFill>
            <a:srgbClr val="1B24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8738" y="5148072"/>
            <a:ext cx="28142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والتركيب حسب هدفك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88738" y="5458968"/>
            <a:ext cx="28142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خدمة قائمة بذاتها، ولا باقة ثابتة تُفرض عليك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269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310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يُبنى لك بعد الاتفاق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نضيف اسمك إلى قائمة — نبني حولك شبكة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49047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مصادر تلتقط الباحث، وصفحات مترابطة تمرّر قوّتها إلى صفحتك، وصفحتك تقوده إلى متجرك.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362858" cy="868680"/>
          </a:xfrm>
          <a:prstGeom prst="roundRect">
            <a:avLst>
              <a:gd name="adj" fmla="val 11579"/>
            </a:avLst>
          </a:prstGeom>
          <a:solidFill>
            <a:srgbClr val="0B112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67712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جوجل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551176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نيّة شرائية مباشرة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4418" y="2148840"/>
            <a:ext cx="3362858" cy="868680"/>
          </a:xfrm>
          <a:prstGeom prst="roundRect">
            <a:avLst>
              <a:gd name="adj" fmla="val 11579"/>
            </a:avLst>
          </a:prstGeom>
          <a:solidFill>
            <a:srgbClr val="0B112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7298" y="2267712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مساعدات الذكاء الاصطناعي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7298" y="2551176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اقتباس داخل الإجابة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43037" y="2148840"/>
            <a:ext cx="3362858" cy="868680"/>
          </a:xfrm>
          <a:prstGeom prst="roundRect">
            <a:avLst>
              <a:gd name="adj" fmla="val 11579"/>
            </a:avLst>
          </a:prstGeom>
          <a:solidFill>
            <a:srgbClr val="0B112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5917" y="2267712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تيليجرام والتواصل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25917" y="2551176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مباشر لجمهورنا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949544" y="3127248"/>
            <a:ext cx="292608" cy="182880"/>
          </a:xfrm>
          <a:prstGeom prst="triangle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401568"/>
            <a:ext cx="3362858" cy="868680"/>
          </a:xfrm>
          <a:prstGeom prst="roundRect">
            <a:avLst>
              <a:gd name="adj" fmla="val 11579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5204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عنقود المقارنات والأدلّة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3803904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مقالات يلتقط كلٌّ منها بحثاً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14418" y="3401568"/>
            <a:ext cx="3362858" cy="868680"/>
          </a:xfrm>
          <a:prstGeom prst="roundRect">
            <a:avLst>
              <a:gd name="adj" fmla="val 11579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7298" y="35204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الموسم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97298" y="3803904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ترتفع مع ذروة الطلب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43037" y="3401568"/>
            <a:ext cx="3362858" cy="868680"/>
          </a:xfrm>
          <a:prstGeom prst="roundRect">
            <a:avLst>
              <a:gd name="adj" fmla="val 11579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5917" y="35204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محاور الفئات والمتاجر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25917" y="3803904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صفحات تجميعية تمرّر قوّتها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43159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داخلي متبادل بين هذه الصفحات — فتتراكم قوّتها بدل أن تتبعثر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 rot="10800000">
            <a:off x="5949544" y="4626864"/>
            <a:ext cx="292608" cy="182880"/>
          </a:xfrm>
          <a:prstGeom prst="triangle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901184"/>
            <a:ext cx="10820095" cy="658368"/>
          </a:xfrm>
          <a:prstGeom prst="roundRect">
            <a:avLst>
              <a:gd name="adj" fmla="val 15278"/>
            </a:avLst>
          </a:prstGeom>
          <a:solidFill>
            <a:srgbClr val="1B24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901184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علامتك — الوجهة الثابتة: عرضك وتعريفك وهويتك، برابط دائم وبيانات منظّمة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rot="10800000">
            <a:off x="5949544" y="5614416"/>
            <a:ext cx="292608" cy="182880"/>
          </a:xfrm>
          <a:prstGeom prst="triangle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870448"/>
            <a:ext cx="10820095" cy="530352"/>
          </a:xfrm>
          <a:prstGeom prst="roundRect">
            <a:avLst>
              <a:gd name="adj" fmla="val 18966"/>
            </a:avLst>
          </a:prstGeom>
          <a:solidFill>
            <a:srgbClr val="0B112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870448"/>
            <a:ext cx="102714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متجرك — المشتري يصل ومعه الكود، والطلب يكتمل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58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269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310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يميّزنا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حين يسأل المتسوّق مساعداً ذكياً بدل محرّك البحث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609344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صار المتسوّق يسأل «وش أفضل…» ويأخذ الإجابة دون أن يفتح نتيجة بحث واحدة.</a:t>
            </a:r>
            <a:endParaRPr lang="en-US" sz="1450" dirty="0"/>
          </a:p>
          <a:p>
            <a:pPr rtl="1" algn="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يُذكر داخل تلك الإجابة يكسب، ومن لا يُذكر يختفي — مهما أنفق على الإعلان.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5181448" cy="2377440"/>
          </a:xfrm>
          <a:prstGeom prst="roundRect">
            <a:avLst>
              <a:gd name="adj" fmla="val 4231"/>
            </a:avLst>
          </a:prstGeom>
          <a:solidFill>
            <a:srgbClr val="1B24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383280"/>
            <a:ext cx="444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محرّكات بحث</a:t>
            </a:r>
            <a:endParaRPr lang="en-US" sz="2700" dirty="0"/>
          </a:p>
          <a:p>
            <a:pPr rtl="1" algn="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الجيل القادم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1560" y="4370832"/>
            <a:ext cx="444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صفحاتنا تُقتبَس اليوم داخل إجابات المساعدين الأذكياء، وحضورنا فيها في تصاعد مستمرّ — والاقتباس يسبق المنافسة على نتائج البحث أصلاً.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4448" y="3063240"/>
            <a:ext cx="5181448" cy="2377440"/>
          </a:xfrm>
          <a:prstGeom prst="roundRect">
            <a:avLst>
              <a:gd name="adj" fmla="val 4231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0208" y="331012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هذا صعب على غيرنا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90208" y="365760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تُشترى هذه القناة بالإعلان ولا تُختصر بالميزانية: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90208" y="4023360"/>
            <a:ext cx="4449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3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مفتوحة صراحةً لزواحف المساعدات الذكية</a:t>
            </a:r>
            <a:endParaRPr lang="en-US" sz="12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3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عربي أصلي قابل للاقتباس لا مترجم</a:t>
            </a:r>
            <a:endParaRPr lang="en-US" sz="12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3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منظّمة على كل صفحة علامة</a:t>
            </a:r>
            <a:endParaRPr lang="en-US" sz="1250" dirty="0"/>
          </a:p>
          <a:p>
            <a:pPr algn="r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3E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وعمل تحريري متّسق بلا انقطاع — بنيناه مبكراً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269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310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الثقة قبل الأرقام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علامتك في يد لا تُتاجر بها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49047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التعامل مع طرف ثالث ينشر باسم علامتك مخاطرة قبل أن يكون فرصة — فهذه مبادئنا، نضعها أمامكم قبل أن تسألوا.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3362858" cy="1298448"/>
          </a:xfrm>
          <a:prstGeom prst="roundRect">
            <a:avLst>
              <a:gd name="adj" fmla="val 7746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90290" y="2734056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39029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نشر لعرض غير محقّق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عرض يُختبر قبل نشره ويُسحب فور انتهائه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4418" y="2514600"/>
            <a:ext cx="3362858" cy="1298448"/>
          </a:xfrm>
          <a:prstGeom prst="roundRect">
            <a:avLst>
              <a:gd name="adj" fmla="val 7746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18909" y="2734056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118909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8738" y="2734056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مزايدة على اسمك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88738" y="30632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ننافسك على زائرك ولا نرفع تكلفة كلمتك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43037" y="2514600"/>
            <a:ext cx="3362858" cy="1298448"/>
          </a:xfrm>
          <a:prstGeom prst="roundRect">
            <a:avLst>
              <a:gd name="adj" fmla="val 7746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47527" y="2734056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0847527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7357" y="2734056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عرضك وحده على صفحتك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7357" y="30632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كود منافس ولا تحويل إليه، ولو كان خصمه أعلى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197096"/>
            <a:ext cx="3362858" cy="1298448"/>
          </a:xfrm>
          <a:prstGeom prst="roundRect">
            <a:avLst>
              <a:gd name="adj" fmla="val 7746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90290" y="441655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39029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416552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الإسناد على أنظمتكم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60120" y="4745736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الكود يُسجَّل في نظام العمولة لديكم — فالرقم رقمكم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14418" y="4197096"/>
            <a:ext cx="3362858" cy="1298448"/>
          </a:xfrm>
          <a:prstGeom prst="roundRect">
            <a:avLst>
              <a:gd name="adj" fmla="val 7746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8909" y="441655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118909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88738" y="4416552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سرّية تامة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688738" y="4745736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اسم ولا رقم يخرج منّا بلا إذن مكتوب، ونوقّع NDA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43037" y="4197096"/>
            <a:ext cx="3362858" cy="1298448"/>
          </a:xfrm>
          <a:prstGeom prst="roundRect">
            <a:avLst>
              <a:gd name="adj" fmla="val 7746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47527" y="441655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10847527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7357" y="4416552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تسويق نظيف فقط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417357" y="4745736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صفحات مضلّلة ولا حشو — ما يُبنى باسمك لا يعرّضك لعقوبة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269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310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نتعاون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 تناسب اختلاف الأهداف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490472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نبدأ عادةً بنموذج واحد لفترة محدودة، ثم يُوسَّع وفق النتيجة. التفاصيل والتسعير تُناقش حسب حجم الحملة ومدّتها.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468880"/>
            <a:ext cx="5181448" cy="1325880"/>
          </a:xfrm>
          <a:prstGeom prst="roundRect">
            <a:avLst>
              <a:gd name="adj" fmla="val 7586"/>
            </a:avLst>
          </a:prstGeom>
          <a:solidFill>
            <a:srgbClr val="1B24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97480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حملة موسمية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3026664"/>
            <a:ext cx="4541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باقة حول موسم بعينه: صفحة موسم، ومحتوى داعم، وإبراز في الواجهة، وتوزيع على قنواتنا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2468880"/>
            <a:ext cx="5181448" cy="1325880"/>
          </a:xfrm>
          <a:prstGeom prst="roundRect">
            <a:avLst>
              <a:gd name="adj" fmla="val 7586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4488" y="2697480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رعاية محتوى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44488" y="3026664"/>
            <a:ext cx="4541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إنتاج تحريري عربي حول فئتك، يخدم حضورك في البحث وفي إجابات المساعدات — ويبقى أصلاً لك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5181448" cy="1325880"/>
          </a:xfrm>
          <a:prstGeom prst="roundRect">
            <a:avLst>
              <a:gd name="adj" fmla="val 7586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89120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حصري لجمهورنا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4718304"/>
            <a:ext cx="4541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كود لكل شريحة أو فئة أو موسم، فينفصل الإسناد في نظامكم وتعرفون أيّها يبيع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24448" y="4160520"/>
            <a:ext cx="5181448" cy="1325880"/>
          </a:xfrm>
          <a:prstGeom prst="roundRect">
            <a:avLst>
              <a:gd name="adj" fmla="val 7586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4488" y="4389120"/>
            <a:ext cx="454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شراكة بالأداء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44488" y="4718304"/>
            <a:ext cx="4541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تعاون قائم على النتيجة المحقّقة، بلا تكلفة مقدّمة — عبر آلية الإسناد التي تعتمدونها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623560"/>
            <a:ext cx="10820095" cy="713232"/>
          </a:xfrm>
          <a:prstGeom prst="roundRect">
            <a:avLst>
              <a:gd name="adj" fmla="val 14103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623560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نحتاجه منكم للانطلاق:  الهوية البصرية، ونبذة معتمدة، وتفاصيل العرض ومدّته، وجهة اتصال واحدة — بلا تكامل تقني ولا تعديل على متجركم.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269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الصفقات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310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العمل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هذا الاجتماع إلى أول نتيجة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0820095" cy="868680"/>
          </a:xfrm>
          <a:prstGeom prst="roundRect">
            <a:avLst>
              <a:gd name="adj" fmla="val 11579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91495" y="2148840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066544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جلسة تعارف قصيرة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نفهم هدف الحملة والجمهور والموسم، ونقترح النموذج الأنسب — بلا التزام من طرفكم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0820095" cy="868680"/>
          </a:xfrm>
          <a:prstGeom prst="roundRect">
            <a:avLst>
              <a:gd name="adj" fmla="val 11579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91495" y="3172968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91495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090672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نشر مكتوبة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401568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سيُنشر، وأين، ومتى — بعد الاجتماع بوقت قصير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968496"/>
            <a:ext cx="10820095" cy="868680"/>
          </a:xfrm>
          <a:prstGeom prst="roundRect">
            <a:avLst>
              <a:gd name="adj" fmla="val 11579"/>
            </a:avLst>
          </a:prstGeom>
          <a:solidFill>
            <a:srgbClr val="1B2440"/>
          </a:solidFill>
          <a:ln w="9525">
            <a:solidFill>
              <a:srgbClr val="2C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91495" y="4197096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591495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1148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التنفيذ والإطلاق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425696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إنتاج المحتوى والصفحات والمواد البصرية، ثم الإطلاق على قنواتنا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992624"/>
            <a:ext cx="10820095" cy="868680"/>
          </a:xfrm>
          <a:prstGeom prst="roundRect">
            <a:avLst>
              <a:gd name="adj" fmla="val 11579"/>
            </a:avLst>
          </a:prstGeom>
          <a:solidFill>
            <a:srgbClr val="1B24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91495" y="5221224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591495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5138928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والقياس عندكم لا عندنا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5449824"/>
            <a:ext cx="9448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الكود الحصري يجعل كل طلب مسجّلاً في نظامكم — وأبسط بداية تجربة محدودة تقيسونها بأنفسكم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ealPulseKSA/outreach/company_profile/logo_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8528" y="914400"/>
            <a:ext cx="2834640" cy="18276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06324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لنبدأ بتجربة محدودة تقيسونها بأنفسكم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645920" y="3749040"/>
            <a:ext cx="8899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C3CB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كود حصري لجمهورنا، وصفحة دائمة باسم علامتكم — والرقم الذي تقرّرون عليه رقمكم أنتم.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5800" y="4572000"/>
            <a:ext cx="3362858" cy="914400"/>
          </a:xfrm>
          <a:prstGeom prst="roundRect">
            <a:avLst>
              <a:gd name="adj" fmla="val 11000"/>
            </a:avLst>
          </a:prstGeom>
          <a:solidFill>
            <a:srgbClr val="1B24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4718304"/>
            <a:ext cx="3362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5800" y="4992624"/>
            <a:ext cx="3362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dealpulseksa@gmail.com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14418" y="4572000"/>
            <a:ext cx="3362858" cy="914400"/>
          </a:xfrm>
          <a:prstGeom prst="roundRect">
            <a:avLst>
              <a:gd name="adj" fmla="val 11000"/>
            </a:avLst>
          </a:prstGeom>
          <a:solidFill>
            <a:srgbClr val="1B24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14418" y="4718304"/>
            <a:ext cx="3362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واتساب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414418" y="4992624"/>
            <a:ext cx="3362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0534448900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43037" y="4572000"/>
            <a:ext cx="3362858" cy="914400"/>
          </a:xfrm>
          <a:prstGeom prst="roundRect">
            <a:avLst>
              <a:gd name="adj" fmla="val 11000"/>
            </a:avLst>
          </a:prstGeom>
          <a:solidFill>
            <a:srgbClr val="1B2440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43037" y="4718304"/>
            <a:ext cx="33628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143037" y="4992624"/>
            <a:ext cx="3362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dealpulseksa.com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59893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A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 العرض تعريفي بطبيعته ولا يُنشئ عرضاً أو التزاماً ملزماً؛ ونطاق أي تعاون وشروطه ومدّته وتسعيره تُحدَّد في اتفاق مستقل بين الطرفين.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نبض الصفقات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نبض الصفقات — عرض تعريفي</dc:title>
  <dc:subject>PptxGenJS Presentation</dc:subject>
  <dc:creator>Deal Pulse KSA</dc:creator>
  <cp:lastModifiedBy>Deal Pulse KSA</cp:lastModifiedBy>
  <cp:revision>1</cp:revision>
  <dcterms:created xsi:type="dcterms:W3CDTF">2026-08-18T04:38:59Z</dcterms:created>
  <dcterms:modified xsi:type="dcterms:W3CDTF">2026-08-18T04:38:59Z</dcterms:modified>
</cp:coreProperties>
</file>